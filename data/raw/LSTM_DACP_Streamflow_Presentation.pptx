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Quattrocento Sans" charset="-122" pitchFamily="34"/>
      <p:regular r:id="rId33"/>
    </p:embeddedFont>
    <p:embeddedFont>
      <p:font typeface="Oranienbaum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778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5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LSTM + DACP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16000" y="3048000"/>
            <a:ext cx="1143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Deep Learning with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Adaptive Conformal Prediction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Streamflow Prediction &amp; Uncertainty Quantification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5 Snowmelt-Driven Watersheds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12800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838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RIDE Research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0" y="838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Presentation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572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97000" y="1397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69000" y="1397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streamflow prediction matters and the challenge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20955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0955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095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Sites &amp;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095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watersheds, 1,461 daily observations each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27940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23900" y="27940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2794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2794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design, training, and configuration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34925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34925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97000" y="3492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9000" y="3492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R², RMSE, MRE, NSE — per site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41910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1" name="Text 19"/>
          <p:cNvSpPr/>
          <p:nvPr/>
        </p:nvSpPr>
        <p:spPr>
          <a:xfrm>
            <a:off x="723900" y="41910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4191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DACP Method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4191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adaptive regulators for prediction intervals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3900" y="48895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23900" y="48895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97000" y="4889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Experiments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69000" y="4889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70%, 80%, 90%, 95% across all sites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1200" y="5588000"/>
            <a:ext cx="5588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9" name="Text 27"/>
          <p:cNvSpPr/>
          <p:nvPr/>
        </p:nvSpPr>
        <p:spPr>
          <a:xfrm>
            <a:off x="711200" y="5588000"/>
            <a:ext cx="55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97000" y="5588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Per-Site Analysis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69000" y="5588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Plots, metrics, and discussion for each watershed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3900" y="6286500"/>
            <a:ext cx="533400" cy="45720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33" name="Text 31"/>
          <p:cNvSpPr/>
          <p:nvPr/>
        </p:nvSpPr>
        <p:spPr>
          <a:xfrm>
            <a:off x="723900" y="6286500"/>
            <a:ext cx="533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97000" y="6286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Deliverables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69000" y="6286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and what we produced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Statement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Streamflow Prediction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70485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208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1854200"/>
            <a:ext cx="6477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Snowmelt-driven watersheds provide critical water supply for agriculture, municipalities, and ecosystems across the Western U.S.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Accurate daily streamflow forecasting is essential for: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Water resource management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reservoir operations, irrigation scheduling, and drought planning.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Flood warning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peak discharge events can cause devastating damage if not anticipated.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Ecological monitoring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aquatic ecosystems depend on minimum flow thresholds.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45500" y="1143000"/>
            <a:ext cx="70485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445500" y="11430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0" name="Text 8"/>
          <p:cNvSpPr/>
          <p:nvPr/>
        </p:nvSpPr>
        <p:spPr>
          <a:xfrm>
            <a:off x="8750300" y="13208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50300" y="1854200"/>
            <a:ext cx="6477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Snowmelt hydrology is highly nonlinear. Discharge depends on SWE, temperature, precipitation history, and soil moisture.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models struggle because: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Time-dependent interactions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snowpack accumulates over weeks but can melt in days.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Regime shifts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same watershed behaves differently during snowmelt season vs. rain-on-snow vs. baseflow.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50300" y="5969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approach: Standard LSTM for point prediction + DACP for distribution-free uncertainty quantification.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Study Sites &amp; Data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Five Snowmelt-Dominated Watersheds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sites: 1,461 daily observations (2019–2022), Western U.S.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47800"/>
            <a:ext cx="50800" cy="1270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Bunchgrass Meadow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05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High-flow, snowmelt-dominated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6000" y="152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161 – 2,922 cfs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6000" y="190500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Widest dynamic range; snowmelt-dominated with extreme spring peaks. Log transform required.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844800"/>
            <a:ext cx="14732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844800"/>
            <a:ext cx="50800" cy="1270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92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Pass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302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High-flow, glacial/snow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6000" y="292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– 277 cfs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6000" y="330200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High-elevation alpine; rapid solar-driven (GHI) melt onset in spring.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241800"/>
            <a:ext cx="14732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4241800"/>
            <a:ext cx="50800" cy="1270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31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699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Mid-flow, rain-on-snow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6000" y="431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– 79 cfs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6000" y="469900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Flashy rain-on-snow events produce sharp discharge spikes; hardest timing to predict.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638800"/>
            <a:ext cx="14732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5638800"/>
            <a:ext cx="50800" cy="1270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715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 Creek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6096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Low-flow, complex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26000" y="571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– 171 cfs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6000" y="609600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mixed hydrology with low baseflow and occasional sharp peaks.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035800"/>
            <a:ext cx="14732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7035800"/>
            <a:ext cx="50800" cy="1270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711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7493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Low-flow, rain-dominant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26000" y="711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– 672 cfs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26000" y="749300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low baseflow punctuated by one dominant extreme peak event.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Input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site uses 8 input features in a 14-day sliding window. Four key engineered features explained below.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70485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478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002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Features (5)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" y="2133600"/>
            <a:ext cx="6477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WESD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Water Equivalent Snow Depth. Primary snowpack indicator; leading driver of spring runoff timing.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GHI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Global Horizontal Irradiance. Solar energy input; critical for glacial and alpine melt onset.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PRCP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Daily Precipitation. Direct water input; rain-on-snow events captured here.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SNWD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Snow Depth. Physical snowpack depth complement to WESD.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TAVG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Average Temperature. Temperature threshold for snowmelt onset (above 0°C).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47800"/>
            <a:ext cx="70485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445500" y="14478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8750300" y="16002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Engineered Features (3)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50300" y="2133600"/>
            <a:ext cx="6477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prcp_7d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7-Day Cumulative Precipitation. Rolling sum capturing recent soil saturation. A rising prcp_7d signals an incoming discharge spike.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doy_sin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Day-of-Year Sine. Seasonal encoding; peaks in spring (~day 91). Tells the model "where in the year" without a harsh Jan→Dec jump.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doy_cos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Day-of-Year Cosine. Seasonal encoding complement; together with sine, encodes a full circular calendar — all four seasons, no ambiguity.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LSTM Model Architecture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Model Architecture: Standard LSTM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7048500" cy="723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7239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208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1854200"/>
            <a:ext cx="6477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Stacked LSTM Layers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hidden units per layer. Captures temporal dependencies over a 14-day input window.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Connected Layers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→ 64 → 32 with ReLU, dropout 0.2. Outputs single scalar discharge prediction.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Function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Huber loss (δ = 1.0) applied uniformly across all sites. Robust to outlier discharge peaks.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Physics Term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PI-LSTM, no water balance constraint (λ = 0). The model learns purely from data.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Attention Mechanism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Relies on LSTM memory cell alone — no multi-head attention.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143000"/>
            <a:ext cx="70485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445500" y="11430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0" name="Text 8"/>
          <p:cNvSpPr/>
          <p:nvPr/>
        </p:nvSpPr>
        <p:spPr>
          <a:xfrm>
            <a:off x="8750300" y="13208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Differences from PI-LSTM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50300" y="1854200"/>
            <a:ext cx="6477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Water Balance Constraint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PI-LSTM penalizes water balance violations with site-specific λ. Standard LSTM uses λ = 0 everywhere.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Multi-Head Attention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PI-LSTM uses 4-head attention to weight critical time steps. Standard LSTM relies on LSTM memory only.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Hyperparameters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PI-LSTM uses Optuna-tuned site-specific loss functions and feature sets. Standard LSTM applies identical settings to all sites.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Loss Function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PI-LSTM selects NSE/MSE/Huber per site. Standard LSTM uses Huber δ=1.0 for all sites.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Training Configuration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7620000" cy="6731000"/>
        </p:xfrm>
        <a:graphic>
          <a:graphicData uri="http://schemas.openxmlformats.org/drawingml/2006/table">
            <a:tbl>
              <a:tblPr/>
              <a:tblGrid>
                <a:gridCol w="3429000"/>
                <a:gridCol w="4191000"/>
              </a:tblGrid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window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 days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 layers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 × 128 hidden units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Dropout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Loss 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Huber (δ = 1.0)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Adam (lr = 1e-3)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Gradient clipping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Train / Test split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85% / 15% (chronological)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Validation split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 of training window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 epochs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Early stopping patience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 epochs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Batch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7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seed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 (fixed)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63000" y="1143000"/>
            <a:ext cx="67310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8763000" y="11430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4"/>
          <p:cNvSpPr/>
          <p:nvPr/>
        </p:nvSpPr>
        <p:spPr>
          <a:xfrm>
            <a:off x="9067800" y="1320800"/>
            <a:ext cx="6172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LSTMModel (PyTorch)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67800" y="1854200"/>
            <a:ext cx="6172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LSTMModel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(nn.Module):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__init__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(self, n_features):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self.lstm = nn.LSTM(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n_features, 128, 2,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batch_first=True,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dropout=0.2)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self.fc = nn.Sequential(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nn.Linear(128, 64),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nn.ReLU(),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nn.Dropout(0.2),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nn.Linear(64, 32),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nn.ReLU(),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nn.Linear(32, 1))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(self, x):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out, _ = self.lstm(x)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self.fc(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out[:, -1, :]).squeeze(-1)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Model Performance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LSTM Performance Summary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2357120"/>
                <a:gridCol w="2357120"/>
                <a:gridCol w="1767840"/>
                <a:gridCol w="1767840"/>
                <a:gridCol w="1767840"/>
                <a:gridCol w="1473200"/>
              </a:tblGrid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RMSE (cfs)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R²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95% Cov.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Avg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Bunchgrass Meadow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559.31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0.428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86.4%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1136.48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Pass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13.09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91.8%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27.57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3.47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89.5%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7.27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Swift Creek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4.57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0.229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0.158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0.158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87.3%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6.27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0911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Touchet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20.61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34.37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71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14-day rolling input, walk-forward prediction, uniform hyperparameters across all sites. No lagged discharge feature.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65532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5532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66548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Performer: Paradise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70612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0.622 — captures 62% of daily variance. Huber loss handles outlier peaks across all sites uniformly.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45500" y="65532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445500" y="65532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2" name="Text 9"/>
          <p:cNvSpPr/>
          <p:nvPr/>
        </p:nvSpPr>
        <p:spPr>
          <a:xfrm>
            <a:off x="8750300" y="66548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Challenging: Swift Creek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50300" y="70612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0.158 — complex mixed hydrology. But best MRE (0.229) — errors are small relative to observed values.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Understanding RMSE &amp; MRE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4732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3302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208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RMSE (Root Mean Squared Error)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1854200"/>
            <a:ext cx="1409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error magnitude in the same units as discharge (cfs).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Scale-dependent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must compare to the site's discharge range.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Bunchgrass's 559.31 cfs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looks huge — but on a site ranging 161–2,922 cfs, it's only ~19% of max.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 Creek's 4.57 cfs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seems small — but on a site that only reaches ~171 cfs, it's ~2.7% of max.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alone cannot compare sites — you need scale context.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699000"/>
            <a:ext cx="14732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4699000"/>
            <a:ext cx="50800" cy="3302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8768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MRE (Mean Relative Error)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6800" y="5410200"/>
            <a:ext cx="1409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Normalizes errors by observed value —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scale-independent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MRE = 0.428 means predictions are off by ~43% on average.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 Creek has best MRE (0.229)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worst R² — errors are small in absolute terms relative to observed values.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Paradise has worst MRE (0.492)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flashy rain-on-snow spikes cause large relative errors even when absolute errors are small.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metric tells the whole story — always interpret together in context of each site's discharge scale.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Comparison with PI-LSTM Reference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2357120"/>
                <a:gridCol w="2357120"/>
                <a:gridCol w="2062480"/>
                <a:gridCol w="4714240"/>
              </a:tblGrid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 R²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PI-LSTM R²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ΔR²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Insight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Bunchgrass Meadow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-0.314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Physics loss + NSE critical for extreme 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Pass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0.545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E8A8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+0.068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 outperforms; Huber + attention hurt here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-0.055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Physics term improves rain-on-snow timing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Swift Creek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0.158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-0.118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Neither model handles complex hydrology well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0911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Touchet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0.381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0.893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-0.512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Huber + site-specific λ essential for peak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791200"/>
            <a:ext cx="14732000" cy="266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5791200"/>
            <a:ext cx="50800" cy="2667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59436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Takeaway: Physics-Informed Gap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66800" y="64770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standard LSTM underperforms the PI-LSTM reference at all sites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 Easy Pass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(ΔR² = +0.068), confirming that physics-informed training provides meaningful regularization for snowmelt hydrology.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largest performance gaps are at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Bunchgrass Meadow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(ΔR² = −0.314) and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Touchet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(ΔR² = −0.512), where the PI-LSTM's physics loss and Huber objective are most critical.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Dual Adaptive Conformal Prediction (DACP)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Uncertainty Quantification?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4732000" cy="673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6731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208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 Predictions Are Not Enough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905000"/>
            <a:ext cx="1409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prediction of "tomorrow's flow = 45 cfs" gives no indication of confidence.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it 45 ± 2 cfs? Or 45 ± 50 cfs?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Decision-makers — flood managers, reservoir operators, ecologists — need to know how much to trust each prediction. Without uncertainty bounds, they cannot properly assess risk.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especially critical during regime transitions (snowmelt onset, rain-on-snow events) when prediction errors are largest.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57150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DACP wraps any point-prediction model with adaptive prediction intervals.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Distribution-free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Gaussian assumptions.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intervals respond to model accuracy.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guarantees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e.g., 95% of true values fall within bounds.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DACP: Building Prediction Intervals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each time step, DACP uses past prediction errors to build an interval around the new prediction: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478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549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Collect Error History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955800"/>
            <a:ext cx="647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|actual − predicted| for the past 180 days (rolling window). This gives a fixed-size set of recent errors.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478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445500" y="14478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8750300" y="1549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Partition via t_m Regulator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50300" y="1955800"/>
            <a:ext cx="647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 partitioning regulator t_m controls what fraction of error history feeds into calibration vs. reference.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1750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1750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3276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Compute the Interval Half-Width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3683000"/>
            <a:ext cx="647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the (1 − α_m)-quantile from the calibration set. This quantile q becomes the half-width of the prediction interval.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3175000"/>
            <a:ext cx="70485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3175000"/>
            <a:ext cx="50800" cy="152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9" name="Text 17"/>
          <p:cNvSpPr/>
          <p:nvPr/>
        </p:nvSpPr>
        <p:spPr>
          <a:xfrm>
            <a:off x="8750300" y="3276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Prediction Interval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50300" y="3683000"/>
            <a:ext cx="647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[max(ŷ − q, 0), ŷ + q] — the floor at 0 enforces physical non-negativity of discharge.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29200"/>
            <a:ext cx="14732000" cy="1270000"/>
          </a:xfrm>
          <a:prstGeom prst="rect">
            <a:avLst/>
          </a:prstGeom>
          <a:solidFill>
            <a:srgbClr val="E6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5207000"/>
            <a:ext cx="1409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180-day rolling window → partition → quantile → [max(ŷ − q, 0), ŷ + q]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Distribution-free, adaptive, and requires no parametric assumptions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DACP: Dual Adaptive Regulators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observing the true value, DACP updates both regulators: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7048500" cy="642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47800"/>
            <a:ext cx="50800" cy="64262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256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Partitioning Regulator (t_m)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" y="2159000"/>
            <a:ext cx="6477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how much of the error history goes to calibration vs. reference.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covered: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t_{m+1} = t_m + γ · μ₁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(μ₁ = 0.03, slow adjustment)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missed: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t_{m+1} = t_m + γ · μ₂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(μ₂ = 0.50, fast reaction)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μ₂ / μ₁ ≈ 17×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algorithm reacts fast to misses but slowly when covered. This asymmetry is key to DACP's performance.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47800"/>
            <a:ext cx="7048500" cy="642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445500" y="1447800"/>
            <a:ext cx="50800" cy="64262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8750300" y="16256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Quantile Regulator (α_m)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50300" y="2159000"/>
            <a:ext cx="6477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the quantile level used to compute interval half-width.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rule: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α_{m+1} = α_m + λ(α* − e_m)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e_m is the error indicator: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e_m = 1 if missed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e_m = 0 if covered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λ = 0.01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ensures very slow quantile updates to prevent oscillation.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quantile regulator provides fine-grained control over interval width, while the partitioning regulator handles structural shifts in error distribution.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DACP Parameter Choices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 parameters applied uniformly across all sites: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47800"/>
          <a:ext cx="14732000" cy="558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73660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Rationale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Rolling window (n)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180 days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≈80 calibration points — stable quantile estimation with temporal relevance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t_m initial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65% of error history enters calibration — stable quantiles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 bounds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[0.10, 0.60]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Calibration fraction bounded between 40–90%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μ₁ (covered)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Slow: ≈33 covered observations to shift t_m meaningfully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μ₂ (missed)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Fast: ≈2 misses trigger significant interval widening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α (target)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1 − coverage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0.05 for 95%, 0.10 for 90%, 0.20 for 80%, 0.30 for 70%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λ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 quantile update to prevent oscillation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2898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parameters fixed uniformly across all 5 sites — no site-specific tuning. This tests DACP's generalization across diverse flow regimes.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Coverage Experiments &amp; Per-Site Results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Coverage Results: All Sites × All Targets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70% Target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80% Target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90% Target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95% Target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Bunchgrass Meadow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68.6%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77.7%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84.5%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86.4%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Pass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68.6%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78.2%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88.2%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91.8%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64.5%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75.0%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87.3%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89.5%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Swift Creek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65.0%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74.5%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83.2%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87.3%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0911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Touchet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64.1%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75.0%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85.9%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90.0%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715000"/>
            <a:ext cx="14732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5715000"/>
            <a:ext cx="50800" cy="2159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58674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Coverage Performance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66800" y="6400800"/>
            <a:ext cx="14097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performance 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compared to the PI-LSTM reference. Systematic undercoverage at higher targets (especially 95%) reflects the LSTM's tendency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underestimate extreme flows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gap that the PI-LSTM's physics loss partially addresses.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standard LSTM produces larger, more variable prediction errors during peak events, which challenges DACP's rolling calibration window.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Average Interval Widths Across Targets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70%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80%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90%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95%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Bunchgrass Meadow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935.14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1034.58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1117.44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1136.48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Pass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12.75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16.24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21.16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27.57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3.69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5.56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6.58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7.27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Swift Creek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2.47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3.95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5.63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6.27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4"/>
                    </a:solidFill>
                  </a:tcPr>
                </a:tc>
              </a:tr>
              <a:tr h="70911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Touchet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14.06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21.97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27.74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34.37 cfs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715000"/>
            <a:ext cx="14732000" cy="266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5715000"/>
            <a:ext cx="50800" cy="2667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58674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Width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66800" y="64008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Width increases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monotonically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coverage target as expected. Bunchgrass Meadow shows substantially wider intervals (&gt;1,000 cfs at 95%) reflecting the high variability of its discharge.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 Creek maintains the tightest absolute intervals, consistent with its low mean discharge. Relative widths are comparable across sites, showing DACP adapts to each site's scale.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Per-Site Analysis: 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46990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3175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Bunchgrass Meadow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676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0.476 | RMSE = 559.31 | Cov = 86.4%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828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Highest-flow site with extreme dynamic range. Log(1+Q) transform applied. Standard LSTM struggles with multi-peak snowmelt patterns without physics constraints.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143000"/>
            <a:ext cx="46990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143000"/>
            <a:ext cx="50800" cy="3175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1676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0.613 | RMSE = 13.09 | Cov = 91.8%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0828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Best-performing site for this LSTM. Solar-driven melt captured by GHI feature. The 14-day window adequately captures alpine melt onset dynamics.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143000"/>
            <a:ext cx="46990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143000"/>
            <a:ext cx="50800" cy="3175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1676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0.622 | RMSE = 3.47 | Cov = 89.5%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0828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Rain-on-snow events produce sharp spikes difficult to time precisely. R² acceptable but MRE reflects frequent miss-timing of flash events.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572000"/>
            <a:ext cx="71755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572000"/>
            <a:ext cx="50800" cy="3175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6990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 Creek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105400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0.158 | RMSE = 4.57 | MRE = 0.229 (best) | Cov = 87.3%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511800"/>
            <a:ext cx="6667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challenging site with complex mixed hydrology. Best MRE (0.229) despite worst R² — predictions are proportionally close to observed values. DACP coverage falls short at higher targets.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500" y="4572000"/>
            <a:ext cx="71755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8500" y="4572000"/>
            <a:ext cx="50800" cy="3175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46990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72500" y="5105400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0.381 | RMSE = 20.61 | Cov = 90.0%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72500" y="5511800"/>
            <a:ext cx="6667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Dominated by a single extreme peak event (~672 cfs). Without site-specific Huber loss (used in PI-LSTM), this peak heavily influences training and degrades generalization.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spc="200" kern="0" dirty="0">
                <a:solidFill>
                  <a:srgbClr val="0E8A8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SECTION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4732000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50800" cy="3429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20800"/>
            <a:ext cx="1409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1854200"/>
            <a:ext cx="1409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 Prediction: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LSTM achieves R² from 0.158 (Swift Creek) to 0.622 (Paradise). Performance is consistently lower than PI-LSTM, confirming physics-informed training adds meaningful value.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 Quantification: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DACP achieves reasonable coverage, though systematic undercoverage at 95% target (86–92%) reflects calibrating intervals around a weaker base model.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Physics-Informed Gap: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Largest gaps at Bunchgrass (ΔR² = −0.314) and Touchet (ΔR² = −0.512). At Easy Pass, standard LSTM outperforms PI-LSTM by +0.068.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699000"/>
            <a:ext cx="70485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4826000"/>
            <a:ext cx="50800" cy="3048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9784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6800" y="54864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attention mechanism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Uniform hyperparameters across all sites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Short test window (15% ≈ 219 days)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site-specific feature selection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Single loss function for all sites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4826000"/>
            <a:ext cx="70485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5500" y="4826000"/>
            <a:ext cx="50800" cy="3048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50300" y="4978400"/>
            <a:ext cx="647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50300" y="54864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Site-specific hyperparameter tuning (Optuna)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Multi-head attention (4 heads)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Extended input window (30–60 days)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DACP per-site parameter optimization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Hybrid physics-informed loss terms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064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+ DACP: Streamflow Prediction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E8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Uncertainty Quantification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8128000"/>
            <a:ext cx="16256000" cy="50800"/>
          </a:xfrm>
          <a:prstGeom prst="rect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838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RIDE Research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0" y="838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+ DACP: Streamflow Prediction &amp; Uncertainty Quantification</dc:title>
  <dc:subject>LSTM + DACP: Streamflow Prediction &amp; Uncertainty Quantification</dc:subject>
  <dc:creator>Kimi</dc:creator>
  <cp:lastModifiedBy>Kimi</cp:lastModifiedBy>
  <cp:revision>1</cp:revision>
  <dcterms:created xsi:type="dcterms:W3CDTF">2026-05-08T04:18:48Z</dcterms:created>
  <dcterms:modified xsi:type="dcterms:W3CDTF">2026-05-08T04:18:48Z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{"Label":"LSTM + DACP: Streamflow Prediction &amp; Uncertainty Quantification","ContentProducer":"001191110108MACG2KBH8F10000","ProduceID":"19e05c52-a0a2-8c4c-8000-0000dc335832","ReservedCode1":"","ContentPropagator":"001191110108MACG2KBH8F20000","PropagateID":"19e05c52-a0a2-8c4c-8000-0000dc335832","ReservedCode2":""}</vt:lpwstr>
  </property>
</Properties>
</file>