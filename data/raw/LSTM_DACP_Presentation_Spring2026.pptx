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LSTM with Dual Adaptive Conformal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37"/>
                </a:solidFill>
                <a:latin typeface="Calibri"/>
              </a:defRPr>
            </a:pPr>
            <a:r>
              <a:t>Streamflow Uncertainty Quantification Across Five Snowmelt-Dominated Watersheds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Pranav Cheedalla &amp; Austin Santhakumar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A5A6"/>
                </a:solidFill>
                <a:latin typeface="Calibri"/>
              </a:defRPr>
            </a:pPr>
            <a:r>
              <a:t>RIDE Research |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Problem Statement — Why streamflow prediction matters and the challenge of snowmelt hydrology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Study Sites &amp; Data — Five watersheds, 1,461 daily observations each (2019–2022)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LSTM Architecture — Model design, training configuration, and key features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Model Performance — R², RMSE, MRE, NSE across all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Method — Dual adaptive regulators for prediction intervals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Coverage Experiments — 70%, 80%, 90%, 95% targets across all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Per-Site Analysis — Detailed results and hydrographs for each watershed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Conclusion &amp; Future Work — Key findings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Why Streamflow Prediction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Snowmelt-driven watersheds provide critical water supply for agriculture, municipalities, and ecosystems across the Western U.S.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Water Resource Management — Reservoir operations, irrigation scheduling, and drought planning require accurate daily forecasts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Flood Warning — Peak discharge events can cause devastating damage if not anticipated in advance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Ecological Monitoring — Aquatic ecosystems depend on minimum flow thresholds for survival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Current Limitation — Deep learning models produce only point predictions without confidence measures, limiting operational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The Challenge: Snowmelt Hydrology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Snowmelt hydrology is highly nonlinear: discharge depends on SWE, temperature, precipitation history, and soil moisture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Time-dependent interactions — snowpack accumulates over weeks but can melt in days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Regime shifts — the same watershed behaves differently during snowmelt season vs. rain-on-snow vs. baseflow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Traditional models struggle to capture these complex temporal dependencies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Our Approach — Standard LSTM for point prediction + Dual Adaptive Conformal Prediction (DACP) for distribution-free uncertainty quantification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Study Sites &amp;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Five Snowmelt-Dominated Watersheds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Bunchgrass Meadow — High-flow, snowmelt-dominated (161–2,922 cfs). Widest dynamic range; log transform required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Easy Pass — High-flow, glacial/snow (2–277 cfs). High-elevation alpine; rapid solar-driven melt onset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Paradise — Mid-flow, rain-on-snow (0–79 cfs). Flashy events produce sharp discharge spikes; hardest timing to predict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Swift Creek — Low-flow, complex (1–171 cfs). Mixed hydrology with low baseflow and occasional sharp peaks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Touchet — Low-flow, rain-dominant (0–672 cfs). Stable baseflow punctuated by one dominant extreme peak event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All sites: 1,461 daily observations (2019–2022), Western U.S.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Input Features: 10 Variables × 14-Day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Base Features (6): WESD (Snow Water Equivalent), GHI (Global Horizontal Irradiance), PRCP (Precipitation), SNWD (Snow Depth), TAVG (Average Temperature), DISCHRG_LAG (Previous Day's Discharge)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Engineered Feature: prcp_7d — 7-Day Cumulative Precipitation. Rolling sum capturing antecedent wetness; rising values signal incoming discharge spikes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Engineered Feature: API — Antecedent Precipitation Index. Exponentially-weighted sum (α=0.08 decay) representing soil wetness state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Engineered Features: sin(day of year) &amp; cos(day of year) — Circular seasonal encoding providing smooth annual signal without Jan→Dec discontinuity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DISCHRG_LAG provides strong autoregressive signal during recession periods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LSTM Model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LSTM Architecture &amp;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Two Stacked LSTM Layers — 128 hidden units per layer capturing temporal dependencies over 14-day input window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Fully Connected Head — 128 → 64 → 32 with ReLU activations and dropout 0.2 for regularization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Output — Single predicted discharge value in normalized scale, inverse-transformed to physical units (cfs)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Loss Function — Huber loss (δ = 1.0) applied uniformly across all sites. Transitions from quadratic (MSE-like) for small errors to linear (MAE-like) for large errors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Critical for extreme peaks: prevents rare events (Bunchgrass ~2,922 cfs, Touchet ~672 cfs) from dominating gradient signal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Log(1+Q) transform applied to Bunchgrass Meadow and Paradise to stabilize heavy-tailed distributions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Optimizer: Adam (lr = 1e-3) with gradient clipping (max norm = 1.0)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Train / Test Split: 85% / 15% chronological (~1,241 training, ~220 test samples per site)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Validation: 10% of training window for early stopping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Max Epochs: 200 | Early Stopping Patience: 25 epochs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Batch Size: 32 | Random Seed: 42 (fixed for reproducibility)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Scalers fit only on training data to prevent data leakage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No physics-informed loss terms (λ = 0) — model learns purely from data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No attention mechanism — relies on LSTM memory cell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Overall LSTM Model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838200"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(cfs)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NSE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Bunchgrass Meadow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166.31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Huber δ=1.0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Easy Pass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Huber δ=1.0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Paradise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Huber δ=1.0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Swift Creek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0.173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Huber δ=1.0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Touchet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11.08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Huber δ=1.0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Best Performer: Bunchgrass Meadow — R² = 0.954, NSE = 0.954. Captures dominant seasonal snowmelt signal with high fidelity. RMSE of 166.31 cfs is only ~5.7% of peak discharge range.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Strong Performer: Paradise — R² = 0.838 despite flashy rain-on-snow events. Log transform stabilizes heavy-tailed distribution.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Strong Performer: Touchet — R² = 0.821 but extremely high MRE = 0.758. Model has proportionally large errors during baseflow periods (1–5 cfs).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Moderate: Easy Pass — R² = 0.616. 14-day window insufficient for rapid solar-driven melt onset; systematic underestimation during May-June peaks.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Most Challenging: Swift Creek — R² = 0.405. Irregular multi-peaked glacial pattern with summer melt spikes independent of precipitation. However, best MRE = 0.173 — predictions proportionally close to observed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Understanding RMSE &amp; MRE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RMSE (Root Mean Squared Error) — Scale-dependent average error magnitude in discharge units (cfs). Must be compared to site's discharge range.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Bunchgrass's 166.31 cfs appears large but is only ~5.7% of max (2,922 cfs). Swift Creek's 3.84 cfs seems small but is ~2.2% of max (171 cfs).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MRE (Mean Relative Error) — Scale-independent metric normalizing errors by observed value. MRE = 0.201 means predictions are off by ~20% on average.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Swift Creek has best MRE (0.173) despite worst R² — errors are small relative to observed values during dominant low-flow regime.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Touchet has worst MRE (0.758) — while RMSE is low (11.08 cfs), proportional errors during baseflow are severe.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No single metric tells the whole story — always interpret together in context of each site's discharge scale and hydrological regime.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Dual Adaptive Conformal Prediction (DACP)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Why Uncertainty Quantification?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Point Predictions Are Not Enough — A prediction of 'tomorrow's flow = 45 cfs' gives no indication of confidence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Is it 45 ± 2 cfs? Or 45 ± 50 cfs? Decision-makers need to know how much to trust each prediction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Critical during regime transitions (snowmelt onset, rain-on-snow events) when prediction errors are largest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wraps any point-prediction model with adaptive prediction intervals — distribution-free, no Gaussian assumptions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Adaptive — intervals respond to model accuracy in real-time. Coverage guarantees — e.g., 95% of true values fall within bounds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Key advantage: works with any base model, requires no parametric assumptions about error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DACP: Building Prediction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Step 1: Collect Error History — Compute |actual − predicted| for past 180 days (rolling window). Fixed-size set of recent errors.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Step 2: Partition via t_m Regulator — Data partitioning regulator controls what fraction of error history feeds into calibration vs. reference. t_m = 0.35 means upper 35% provides calibration residuals.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Step 3: Compute Interval Half-Width — Take the (1 − α_m)-quantile from calibration set. This quantile q becomes the half-width of prediction interval.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Step 4: Prediction Interval — [max(ŷ − q, 0), ŷ + q]. Floor at 0 enforces physical non-negativity of discharge.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180-day rolling window → partition → quantile → [max(ŷ − q, 0), ŷ + q]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Distribution-free, adaptive, and requires no parametric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DACP: Dual Adaptive Regulators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Data Partitioning Regulator (t_m) — Controls how much error history goes to calibration vs. reference: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    • If covered: t_{m+1} = t_m + γ · μ₁ (μ₁ = 0.03, slow adjustment — ~33 observations to shift meaningfully)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    • If missed: t_{m+1} = t_m − γ · μ₂ (μ₂ = 0.50, fast reaction — ~2 misses trigger significant widening)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    • μ₂ / μ₁ ≈ 17× asymmetry — reacts aggressively to misses but adjusts slowly after coverage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Quantile Regulator (α_m) — Controls quantile level for interval half-width: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    • α_{m+1} = α_m + k_adap · (α_target − e_m) where e_m = 1 if missed, 0 if covered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    • k_adap = 0.005 (very small) — ensures slow quantile updates to prevent oscillation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Fine-grained width control via α_m; structural error distribution shifts handled by t_m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DACP Parameter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Rolling Window (n): 180 days — ≈80 calibration points for stable quantile estimation with temporal relevance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t_m Initial: 0.35 — 65% of error history discarded; upper 35% enters calibration (focus on recent, high-magnitude errors)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t_m Bounds: [0.10, 0.60] — Calibration fraction bounded between 40–90%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μ₁ (covered): 0.03 — Slow: gradual interval tightening after successful coverage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μ₂ (missed): 0.50 — Fast: aggressive interval widening after misses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α_target: 1 − coverage target (0.05 for 95%, 0.10 for 90%, 0.20 for 80%, 0.30 for 70%)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k_adap: 0.005 (constant across all targets) — conservative choice; paper recommends per-target tuning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All parameters fixed uniformly across all 5 sites — tests DACP generalization across diverse flow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Coverage Experiments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DACP Coverage Results: All Sites × All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8200"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70% 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80% 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90% 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Bunchgrass Meadow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70.9%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88.6%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92.7%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Easy Pass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72.3%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79.5%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87.7%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Paradise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54.1%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83.6%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89.5%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Swift Creek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68.6%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79.5%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Touchet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64.5%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87.3%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91.8%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Coverage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Three sites achieve relatively close coverage (Bunchgrass Meadow, Easy Pass, Swift Creek) — track targets well at 70% and 80%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Systematic under-coverage at higher targets (90%, 95%) reflects LSTM's tendency to underestimate extreme flows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Paradise shows most severe under-coverage: 54.1% at 70% target (−15.9%), 68.2% at 80% (−11.8%)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Touchet shows consistent moderate under-coverage across all targets: −5.5% at 70%, −4.1% at 80%, −2.7% at 90%, −3.2% at 95%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Key differentiating factor: ratio of extreme-event residuals to typical residuals. When peaks produce residuals 5–10× larger than baseflow, a single rolling-window quantile cannot cover both regimes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Constant k_adap = 0.005 (vs. paper-recommended per-target schedule) contributes to slow convergence and under-coverage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Average Interval Widths Across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8200"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70% Width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80% Width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90% Width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Width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Bunchgrass Meadow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365.23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441.52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533.31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599.08 cfs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Easy Pass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14.65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19.45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24.36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31.06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Paradise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1.77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2.48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3.76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5.55 cfs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Swift Creek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1.77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2.26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4.10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9.91 cfs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Touchet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9.91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12.53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18.40 cfs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27.69 cfs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Interval Width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Width increases monotonically with coverage target as expected — DACP correctly trades precision for coverage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Bunchgrass Meadow shows widest absolute intervals (599 cfs at 95%) reflecting extreme dynamic range, but reasonable relative to peak discharge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Swift Creek: width grows dramatically from 1.77 cfs (70%) to 9.91 cfs (95%) — 5.6× expansion reflecting erratic glacial pattern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Paradise maintains tightest absolute intervals (5.55 cfs at 95%) but insufficient for flash-event peaks — only ~7% of peak discharge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Touchet: 27.69 cfs at 95% represents ~4.1% of maximum discharge — tightest relative interval of all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Normalized widths (as % of mean discharge) show DACP adapts proportionally to each site's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Per-Site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Bunchgrass Meadow — Best Overall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R² = 0.954 | RMSE = 166.31 cfs | MRE = 0.201 | NSE = 0.954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Highest-flow site with extreme dynamic range (mean 716 cfs, max 2,922 cfs). Log(1+Q) transform stabilizes training.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LSTM captures dominant seasonal signal: spring melt peaks and summer recession curves with high fidelity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Coverage: Strong at 70% (70.9%) and 80% (80.5%). Falls below at 90% (88.6%, −1.4%) and 95% (92.7%, −2.3%)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Most misses occur at peak timing events — model slightly lags sharpest spring rises. DISCHRG_LAG helps recession but cannot anticipate sudden melt-onset accelerations.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Interval width of 599 cfs at 95% is substantial in absolute terms but reasonable relative to site's extreme flow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Easy Pass — Moderate Performance, Strong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R² = 0.616 | RMSE = 13.05 cfs | MRE = 0.371 | NSE = 0.616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High-elevation alpine site: near-zero winter flow to sharp melt-driven spikes (max 277 cfs, mean 22 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Model captures broad seasonal pattern but systematically underestimates during May-June peak events — 14-day window insufficient for rapid solar-driven melt onset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Coverage: Tracks closely at 70% (72.3%, +2.3%) and 80% (79.5%, −0.5%). Under-tracks at 90% (−2.3%) and 95% (−3.6%)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Under-coverage at higher targets attributable to systematic peak underestimation: rolling window calibration from stable periods insufficient for spring extremes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Asymmetric μ₂ update partially compensates, but 180-day window warm-up limits rapid widening at melt season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Paradise — Most Challenging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R² = 0.838 | RMSE = 2.27 cfs | MRE = 0.360 | NSE = 0.838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Mixed rain-on-snow site with rapid-response hydrology: sharp, brief discharge spikes (max 79 cfs, mean 5.25 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Most challenging DACP coverage in study — systematic under-coverage at all targets: 54.1% at 70% (−15.9%), 68.2% at 80% (−11.8%)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Two contributing factors: (1) Most frequent and rapid flash events — ascend and recede within 1–3 days. 14-day window captures seasonal signal but not exact timing.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(2) Small absolute scale (mean 5.25 cfs) means modest absolute errors translate to narrow physical intervals — 5.55 cfs at 95% is only ~7% of peak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Potential solutions: longer rolling window, site-specific k_adap, or asymmetric upper-bound construction during high prcp_7d periods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Swift Creek — Weak Predictions, Strong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R² = 0.405 | RMSE = 3.84 cfs | MRE = 0.173 (best) | NSE = 0.405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Most challenging predictive site: discharge 0–171 cfs, predominantly below 10 cfs (mean 3.73 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Irregular multi-peaked glacial pattern — summer melt produces erratic spikes independent of precipitation. Fundamentally difficult with precipitation-feature-based model.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Best MRE (0.173) despite worst R² — model accurately represents dominant low-flow regime even while missing peak timing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Coverage: Stable and noteworthy — 68.6% at 70% (−1.4%), 79.5% at 80% (−0.5%), 86.8% at 90% (−3.2%), 91.8% at 95% (−3.2%)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Key insight: DACP provides useful uncertainty bounds even when base model accuracy is moderate — compensates by widening intervals proportionally to accumulated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Touchet — High R², Systematic Under-Coverage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R² = 0.821 | RMSE = 11.08 cfs | MRE = 0.758 (worst) | NSE = 0.821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Moderate discharge range (mean 18.75 cfs, max 672 cfs) dominated by one or two massive annual peaks (~100–672 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Extreme peak-to-baseflow ratio is defining challenge: stable 5–30 cfs punctuated by rare extreme events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Huber loss critical — prevents dominant peak from overpowering gradients from hundreds of stable low-flow days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High MRE (0.758) reflects frequent proportionally large errors during baseflow periods (1–5 cfs)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Coverage: Consistent moderate under-coverage across all targets: 64.5% at 70% (−5.5%), 75.9% at 80% (−4.1%), 87.3% at 90% (−2.7%), 91.8% at 95% (−3.2%)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Primary cause: 180-day window mixes small baseflow residuals with large peak residuals — quantile is intermediate, too wide for low-flow and too narrow for extremes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Discussion: Model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Sites with sustained, slow-varying snowmelt regimes (Bunchgrass Meadow, Touchet) predicted with highest accuracy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DISCHRG_LAG feature provides strong autoregressive signal during recession periods — explains much of high R² at these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Sites with rapid-response hydrology present greater challenges: Paradise flash events, Easy Pass abrupt melt onset, Swift Creek glacial irregularity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Increasing input window beyond 14 days may improve gradual snowpack dynamics prediction (Moghaddasi et al. 2025 suggests 60–90 day optimal lookbacks)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However, longer windows would not address sub-daily flash events — Paradise timing errors are fundamentally about precipitation-event timing, not snowpack accumulation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Log transform essential for heavy-tailed sites (Bunchgrass, Paradise) — without it, raw values spanning 0–2,922 cfs compress low-flow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Discussion: DACP Coverage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Three sites achieve relatively close coverage (Bunchgrass, Easy Pass, Swift Creek); two show systematic under-coverage (Paradise, Touchet)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Key differentiator: ratio of extreme-event residuals to typical residuals. When peaks produce residuals 5–10× larger than baseflow, single quantile cannot cover both regimes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Constant k_adap = 0.005 is more conservative than paper-recommended per-target schedule (0.05 for 95%, scaling to 0.30 for 70%)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Conservative k_adap means α_m adapts very slowly — requires more observations to converge. Explains consistent under-coverage at higher targets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Asymmetric μ₂/μ₁ ratio of 0.50/0.03 ≈ 17× is essential for responsive coverage — correctly treats cost of missing as far greater than cost of marginally wide intervals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Walk-forward rolling retraining would accumulate more calibration history, helping DACP better represent full residual distribution including rare extremes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4A537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82880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Point Prediction: Standard LSTM achieves R² from 0.405 (Swift Creek) to 0.954 (Bunchgrass Meadow). Performance strongly depends on hydrological regime complexity.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DISCHRG_LAG is critical for autoregressive accuracy in slow-varying snowmelt regimes — provides strong recession curve signal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Huber loss (δ=1.0) effectively prevents extreme-peak dominance during training — essential for sites with heavy-tailed discharge distributions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provides adaptive prediction intervals with coverage tracking targets well on three sites (Bunchgrass, Easy Pass, Swift Creek)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Systematic under-coverage at Paradise and Touchet due to extreme multi-scale residual distributions — single quantile cannot simultaneously cover baseflow and peak regimes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DACP provides useful uncertainty bounds even when base model accuracy is moderate (Swift Creek: 91.8% coverage despite R²=0.405)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No attention mechanism — relies solely on LSTM memory cell; multi-head attention could weight critical time steps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Uniform hyperparameters across all sites — no site-specific loss function optimization or feature selection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Short test window (15% ≈ 220 days) — limited exposure to full range of hydrological variability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Fixed train/test split rather than walk-forward rolling retraining — model does not adapt to evolving watershed conditions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Constant k_adap = 0.005 across all coverage targets — more conservative than reference paper recommendations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Single loss function (Huber) for all sites — NSE loss may better suit Touchet; asymmetric upper-bound construction may better suit Paradise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Per-target k_adap values as specified in Zong et al. (2026): 0.05 for 95%, scaling up to 0.30 for 70% — faster α_m convergence, likely closing under-coverage gap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Walk-forward rolling retraining strategy — accumulate more calibration history and adapt to evolving watershed conditions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Longer input sequences (30–60 days) — better capture slow snowpack accumulation dynamics, particularly for glacial sites like Swift Creek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Multi-head attention mechanism (4 heads) — weight critical time steps in input window, as used in PI-LSTM reference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Site-specific loss function optimization: NSE loss for Touchet, asymmetric upper-bound construction for Paradise flash events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Hybrid physics-informed loss terms — incorporate water balance constraints (λ &gt; 0) for snowmelt hydrology regularization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Extended calibration window (180–360 days with walk-forward retraining) — better represent full residual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4A537"/>
                </a:solidFill>
                <a:latin typeface="Calibri"/>
              </a:defRPr>
            </a:pPr>
            <a:r>
              <a:t>LSTM + DACP: Streamflow Prediction with Uncertainty Quantification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Pranav Cheedalla &amp; Austin Santhakumar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5A5A6"/>
                </a:solidFill>
                <a:latin typeface="Calibri"/>
              </a:defRPr>
            </a:pPr>
            <a:r>
              <a:t>RIDE Research | Spring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Moghaddasi, Pouya, Keyhan Gavahi, and Hamid Moradkhani. 2025. 'Snow Drought to Hydrologic Drought Progression Using Machine Learning and Probabilistic Analysis.' Scientific Reports 15.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Zong, Yuwei, Sobhan Badakhshan, Jie Zhang, and Yanwen Xu. 2026. 'Trustworthy Uncertainty Quantification via Distributionally-Robust Dual Adaptive Conformal Prediction.' Journal of Mechanical Design.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Complete code (lstm_dacp_final.py), all 20 result CSVs (LSTM_SiteName_Target.csv), and per-site plots available in Final Result folder.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